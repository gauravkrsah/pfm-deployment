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1999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/Relationships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/Relationships>
</file>

<file path=ppt/slides/_rels/slide3.xml.rels><?xml version="1.0" encoding="UTF-8" standalone="yes"?><Relationships xmlns="http://schemas.openxmlformats.org/package/2006/relationships"></Relationships>
</file>

<file path=ppt/slides/_rels/slide4.xml.rels><?xml version="1.0" encoding="UTF-8" standalone="yes"?><Relationships xmlns="http://schemas.openxmlformats.org/package/2006/relationships"></Relationships>
</file>

<file path=ppt/slides/_rels/slide5.xml.rels><?xml version="1.0" encoding="UTF-8" standalone="yes"?><Relationships xmlns="http://schemas.openxmlformats.org/package/2006/relationships"></Relationships>
</file>

<file path=ppt/slides/_rels/slide6.xml.rels><?xml version="1.0" encoding="UTF-8" standalone="yes"?><Relationships xmlns="http://schemas.openxmlformats.org/package/2006/relationships"></Relationships>
</file>

<file path=ppt/slides/_rels/slide7.xml.rels><?xml version="1.0" encoding="UTF-8" standalone="yes"?><Relationships xmlns="http://schemas.openxmlformats.org/package/2006/relationships"></Relationships>
</file>

<file path=ppt/slides/_rels/slide8.xml.rels><?xml version="1.0" encoding="UTF-8" standalone="yes"?><Relationships xmlns="http://schemas.openxmlformats.org/package/2006/relationships"></Relationships>
</file>

<file path=ppt/slides/_rels/slide9.xml.rels><?xml version="1.0" encoding="UTF-8" standalone="yes"?><Relationships xmlns="http://schemas.openxmlformats.org/package/2006/relationships"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image" Target="../media/1_Use_Case_Diagram.png"/></Relationships>
</file>

<file path=ppt/slides/_rels/slide11.xml.rels><?xml version="1.0" encoding="UTF-8" standalone="yes"?><Relationships xmlns="http://schemas.openxmlformats.org/package/2006/relationships"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image" Target="../media/2_Class_Diagram.png"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image" Target="../media/3_Object_Diagram.png"/></Relationships>
</file>

<file path=ppt/slides/_rels/slide14.xml.rels><?xml version="1.0" encoding="UTF-8" standalone="yes"?><Relationships xmlns="http://schemas.openxmlformats.org/package/2006/relationships"><Relationship Id="rId2" Type="http://schemas.openxmlformats.org/officeDocument/2006/relationships/image" Target="../media/4_State_Diagram.png"/></Relationships>
</file>

<file path=ppt/slides/_rels/slide15.xml.rels><?xml version="1.0" encoding="UTF-8" standalone="yes"?><Relationships xmlns="http://schemas.openxmlformats.org/package/2006/relationships"><Relationship Id="rId2" Type="http://schemas.openxmlformats.org/officeDocument/2006/relationships/image" Target="../media/5_Sequence_Diagram.png"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../media/6_Activity_Diagram.png"/></Relationships>
</file>

<file path=ppt/slides/_rels/slide17.xml.rels><?xml version="1.0" encoding="UTF-8" standalone="yes"?><Relationships xmlns="http://schemas.openxmlformats.org/package/2006/relationships"><Relationship Id="rId2" Type="http://schemas.openxmlformats.org/officeDocument/2006/relationships/image" Target="../media/12_Component_Diagram.png"/></Relationships>
</file>

<file path=ppt/slides/_rels/slide18.xml.rels><?xml version="1.0" encoding="UTF-8" standalone="yes"?><Relationships xmlns="http://schemas.openxmlformats.org/package/2006/relationships"></Relationships>
</file>

<file path=ppt/slides/_rels/slide19.xml.rels><?xml version="1.0" encoding="UTF-8" standalone="yes"?><Relationships xmlns="http://schemas.openxmlformats.org/package/2006/relationships"></Relationships>
</file>

<file path=ppt/slides/_rels/slide20.xml.rels><?xml version="1.0" encoding="UTF-8" standalone="yes"?><Relationships xmlns="http://schemas.openxmlformats.org/package/2006/relationships"></Relationships>
</file>

<file path=ppt/slides/_rels/slide21.xml.rels><?xml version="1.0" encoding="UTF-8" standalone="yes"?><Relationships xmlns="http://schemas.openxmlformats.org/package/2006/relationships"></Relationships>
</file>

<file path=ppt/slides/_rels/slide22.xml.rels><?xml version="1.0" encoding="UTF-8" standalone="yes"?><Relationships xmlns="http://schemas.openxmlformats.org/package/2006/relationships"></Relationships>
</file>

<file path=ppt/slides/_rels/slide23.xml.rels><?xml version="1.0" encoding="UTF-8" standalone="yes"?><Relationships xmlns="http://schemas.openxmlformats.org/package/2006/relationships"></Relationships>
</file>

<file path=ppt/slides/_rels/slide24.xml.rels><?xml version="1.0" encoding="UTF-8" standalone="yes"?><Relationships xmlns="http://schemas.openxmlformats.org/package/2006/relationships"></Relationships>
</file>

<file path=ppt/slides/_rels/slide25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0F766E"/>
                </a:solidFill>
                <a:latin typeface="Aptos"/>
              </a:rPr>
              <a:t>MID / FINAL DEFENSE PRESENTATION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PFM -- Personal Finance Manager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777240" y="1645920"/>
            <a:ext cx="8412480" cy="7315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3000" b="1">
                <a:solidFill>
                  <a:srgbClr val="172033"/>
                </a:solidFill>
                <a:latin typeface="Aptos"/>
              </a:rPr>
              <a:t>PFM -- Personal Finance Manager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04672" y="2606040"/>
            <a:ext cx="6949440" cy="82296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1700">
                <a:solidFill>
                  <a:srgbClr val="5A657A"/>
                </a:solidFill>
                <a:latin typeface="Aptos"/>
              </a:rPr>
              <a:t>Submitted by: Nirmal Sapkota, Gaurav Kumar Sah</a:t>
            </a:r>
          </a:p>
          <a:p>
            <a:pPr/>
            <a:r>
              <a:rPr lang="en-US" sz="1700">
                <a:solidFill>
                  <a:srgbClr val="5A657A"/>
                </a:solidFill>
                <a:latin typeface="Aptos"/>
              </a:rPr>
              <a:t>Supervisor: Bishon Lamichhane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04672" y="5394960"/>
            <a:ext cx="8046720" cy="32004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1100">
                <a:solidFill>
                  <a:srgbClr val="5A657A"/>
                </a:solidFill>
                <a:latin typeface="Aptos"/>
              </a:rPr>
              <a:t>Tribhuvan University | Kathford International College |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2563EB"/>
                </a:solidFill>
                <a:latin typeface="Aptos"/>
              </a:rPr>
              <a:t>TABLE OF CONTENTS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Presentation Outline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1417320"/>
            <a:ext cx="5120640" cy="443484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Introduction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Problem Statement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Project Objectives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Scope and Limitations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Background Study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Literature Review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Methodology and Timeline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309360" y="1417320"/>
            <a:ext cx="5120640" cy="443484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System Diagrams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Algorithm Details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Implementation Tools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Implementation Modules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Testing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Modules Completed and Remaining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Conclusion and References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2563EB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Introduction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960120" y="1600200"/>
            <a:ext cx="10149840" cy="43891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500">
                <a:solidFill>
                  <a:srgbClr val="172033"/>
                </a:solidFill>
                <a:latin typeface="Aptos"/>
              </a:rPr>
              <a:t>What is Personal Finance Manager?</a:t>
            </a:r>
          </a:p>
          <a:p>
            <a:pPr>
              <a:buChar char="•"/>
            </a:pPr>
            <a:r>
              <a:rPr lang="en-US" sz="2500">
                <a:solidFill>
                  <a:srgbClr val="172033"/>
                </a:solidFill>
                <a:latin typeface="Aptos"/>
              </a:rPr>
              <a:t>Why expense tracking is important</a:t>
            </a:r>
          </a:p>
          <a:p>
            <a:pPr>
              <a:buChar char="•"/>
            </a:pPr>
            <a:r>
              <a:rPr lang="en-US" sz="2500">
                <a:solidFill>
                  <a:srgbClr val="172033"/>
                </a:solidFill>
                <a:latin typeface="Aptos"/>
              </a:rPr>
              <a:t>Problem with traditional manual finance apps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DC2626"/>
                </a:solidFill>
                <a:latin typeface="Aptos"/>
              </a:rPr>
              <a:t>IDENTIFIED PROBLEM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DC2626"/>
          </a:solidFill>
          <a:ln w="9525">
            <a:solidFill>
              <a:srgbClr val="DC2626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960120" y="1600200"/>
            <a:ext cx="10149840" cy="43891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Manual data entry is repetitive</a:t>
            </a:r>
          </a:p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Users abandon tracking over time</a:t>
            </a:r>
          </a:p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Existing apps lack smart categorization</a:t>
            </a:r>
          </a:p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Need for intelligent budget analysis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16A34A"/>
                </a:solidFill>
                <a:latin typeface="Aptos"/>
              </a:rPr>
              <a:t>MAIN OBJECTIVES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16A34A"/>
          </a:solidFill>
          <a:ln w="9525">
            <a:solidFill>
              <a:srgbClr val="16A34A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960120" y="1600200"/>
            <a:ext cx="9829800" cy="201168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>
                <a:solidFill>
                  <a:srgbClr val="172033"/>
                </a:solidFill>
                <a:latin typeface="Aptos"/>
              </a:rPr>
              <a:t>To develop a smart Personal Finance Manager that automates expense tracking and budget analysis using natural language processing.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D97706"/>
                </a:solidFill>
                <a:latin typeface="Aptos"/>
              </a:rPr>
              <a:t>PROJECT BOUNDARY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Scope and Limitations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868680" y="1417320"/>
            <a:ext cx="5074920" cy="41148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200" b="1">
                <a:solidFill>
                  <a:srgbClr val="16A34A"/>
                </a:solidFill>
                <a:latin typeface="Aptos"/>
              </a:rPr>
              <a:t>Scope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68680" y="1920240"/>
            <a:ext cx="5074920" cy="34290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1800">
                <a:solidFill>
                  <a:srgbClr val="172033"/>
                </a:solidFill>
                <a:latin typeface="Aptos"/>
              </a:rPr>
              <a:t>Expense tracking</a:t>
            </a:r>
          </a:p>
          <a:p>
            <a:pPr>
              <a:buChar char="•"/>
            </a:pPr>
            <a:r>
              <a:rPr lang="en-US" sz="1800">
                <a:solidFill>
                  <a:srgbClr val="172033"/>
                </a:solidFill>
                <a:latin typeface="Aptos"/>
              </a:rPr>
              <a:t>NLP-based categorization</a:t>
            </a:r>
          </a:p>
          <a:p>
            <a:pPr>
              <a:buChar char="•"/>
            </a:pPr>
            <a:r>
              <a:rPr lang="en-US" sz="1800">
                <a:solidFill>
                  <a:srgbClr val="172033"/>
                </a:solidFill>
                <a:latin typeface="Aptos"/>
              </a:rPr>
              <a:t>Budget optimization</a:t>
            </a:r>
          </a:p>
          <a:p>
            <a:pPr>
              <a:buChar char="•"/>
            </a:pPr>
            <a:r>
              <a:rPr lang="en-US" sz="1800">
                <a:solidFill>
                  <a:srgbClr val="172033"/>
                </a:solidFill>
                <a:latin typeface="Aptos"/>
              </a:rPr>
              <a:t>Dashboard analytics</a:t>
            </a:r>
          </a:p>
          <a:p>
            <a:pPr>
              <a:buChar char="•"/>
            </a:pPr>
            <a:r>
              <a:rPr lang="en-US" sz="1800">
                <a:solidFill>
                  <a:srgbClr val="172033"/>
                </a:solidFill>
                <a:latin typeface="Aptos"/>
              </a:rPr>
              <a:t>RAG-based financial assistant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400800" y="1417320"/>
            <a:ext cx="4800600" cy="41148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200" b="1">
                <a:solidFill>
                  <a:srgbClr val="D97706"/>
                </a:solidFill>
                <a:latin typeface="Aptos"/>
              </a:rPr>
              <a:t>Limitations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400800" y="1920240"/>
            <a:ext cx="4800600" cy="34290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1800">
                <a:solidFill>
                  <a:srgbClr val="172033"/>
                </a:solidFill>
                <a:latin typeface="Aptos"/>
              </a:rPr>
              <a:t>No bank integration</a:t>
            </a:r>
          </a:p>
          <a:p>
            <a:pPr>
              <a:buChar char="•"/>
            </a:pPr>
            <a:r>
              <a:rPr lang="en-US" sz="1800">
                <a:solidFill>
                  <a:srgbClr val="172033"/>
                </a:solidFill>
                <a:latin typeface="Aptos"/>
              </a:rPr>
              <a:t>No receipt scanning</a:t>
            </a:r>
          </a:p>
          <a:p>
            <a:pPr>
              <a:buChar char="•"/>
            </a:pPr>
            <a:r>
              <a:rPr lang="en-US" sz="1800">
                <a:solidFill>
                  <a:srgbClr val="172033"/>
                </a:solidFill>
                <a:latin typeface="Aptos"/>
              </a:rPr>
              <a:t>No tax calculation</a:t>
            </a:r>
          </a:p>
          <a:p>
            <a:pPr>
              <a:buChar char="•"/>
            </a:pPr>
            <a:r>
              <a:rPr lang="en-US" sz="1800">
                <a:solidFill>
                  <a:srgbClr val="172033"/>
                </a:solidFill>
                <a:latin typeface="Aptos"/>
              </a:rPr>
              <a:t>No multi-currency support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0F766E"/>
                </a:solidFill>
                <a:latin typeface="Aptos"/>
              </a:rPr>
              <a:t>STUDY SUMMARY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Background Study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960120" y="1600200"/>
            <a:ext cx="10149840" cy="43891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Existing finance apps depend on manual input</a:t>
            </a:r>
          </a:p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PFM uses NLP, RAG, and optimization</a:t>
            </a:r>
          </a:p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Full-stack web application using React, FastAPI, and Supabase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2563EB"/>
                </a:solidFill>
                <a:latin typeface="Aptos"/>
              </a:rPr>
              <a:t>RELATED WORK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Literature Review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960120" y="1600200"/>
            <a:ext cx="10149840" cy="43891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Splitwise</a:t>
            </a:r>
          </a:p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YNAB</a:t>
            </a:r>
          </a:p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Wallet by BudgetBakers</a:t>
            </a:r>
          </a:p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Automated text categorization</a:t>
            </a:r>
          </a:p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Retrieval-Augmented Generation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16A34A"/>
                </a:solidFill>
                <a:latin typeface="Aptos"/>
              </a:rPr>
              <a:t>METHODOLOGY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Agile Methodology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16A34A"/>
          </a:solidFill>
          <a:ln w="9525">
            <a:solidFill>
              <a:srgbClr val="16A34A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960120" y="1600200"/>
            <a:ext cx="10149840" cy="43891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300">
                <a:solidFill>
                  <a:srgbClr val="172033"/>
                </a:solidFill>
                <a:latin typeface="Aptos"/>
              </a:rPr>
              <a:t>Planning</a:t>
            </a:r>
          </a:p>
          <a:p>
            <a:pPr>
              <a:buChar char="•"/>
            </a:pPr>
            <a:r>
              <a:rPr lang="en-US" sz="2300">
                <a:solidFill>
                  <a:srgbClr val="172033"/>
                </a:solidFill>
                <a:latin typeface="Aptos"/>
              </a:rPr>
              <a:t>Design</a:t>
            </a:r>
          </a:p>
          <a:p>
            <a:pPr>
              <a:buChar char="•"/>
            </a:pPr>
            <a:r>
              <a:rPr lang="en-US" sz="2300">
                <a:solidFill>
                  <a:srgbClr val="172033"/>
                </a:solidFill>
                <a:latin typeface="Aptos"/>
              </a:rPr>
              <a:t>Development</a:t>
            </a:r>
          </a:p>
          <a:p>
            <a:pPr>
              <a:buChar char="•"/>
            </a:pPr>
            <a:r>
              <a:rPr lang="en-US" sz="2300">
                <a:solidFill>
                  <a:srgbClr val="172033"/>
                </a:solidFill>
                <a:latin typeface="Aptos"/>
              </a:rPr>
              <a:t>Testing</a:t>
            </a:r>
          </a:p>
          <a:p>
            <a:pPr>
              <a:buChar char="•"/>
            </a:pPr>
            <a:r>
              <a:rPr lang="en-US" sz="2300">
                <a:solidFill>
                  <a:srgbClr val="172033"/>
                </a:solidFill>
                <a:latin typeface="Aptos"/>
              </a:rPr>
              <a:t>Deployment</a:t>
            </a:r>
          </a:p>
          <a:p>
            <a:pPr>
              <a:buChar char="•"/>
            </a:pPr>
            <a:r>
              <a:rPr lang="en-US" sz="2300">
                <a:solidFill>
                  <a:srgbClr val="172033"/>
                </a:solidFill>
                <a:latin typeface="Aptos"/>
              </a:rPr>
              <a:t>Review and Maintenance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2563EB"/>
                </a:solidFill>
                <a:latin typeface="Aptos"/>
              </a:rPr>
              <a:t>FIGURE 3.2: USE CASE DIAGRAM OF PFM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Use Case Diagram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8732520" y="1417320"/>
            <a:ext cx="2331720" cy="32004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1400" b="1">
                <a:solidFill>
                  <a:srgbClr val="2563EB"/>
                </a:solidFill>
                <a:latin typeface="Aptos"/>
              </a:rPr>
              <a:t>Mention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732520" y="1828800"/>
            <a:ext cx="2560320" cy="38862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User registration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Login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Manage profile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Record transaction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Manage transactions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View analytics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Finance question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NVIDIA NIM API interaction</a:t>
            </a:r>
          </a:p>
        </p:txBody>
      </p:sp>
      <p:pic>
        <p:nvPicPr>
          <p:cNvPr id="7" name="1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046" y="1261872"/>
            <a:ext cx="4105883" cy="489204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D97706"/>
                </a:solidFill>
                <a:latin typeface="Aptos"/>
              </a:rPr>
              <a:t>GANTT CHART SUMMARY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Project Timeline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960120" y="1600200"/>
            <a:ext cx="10149840" cy="43891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200">
                <a:solidFill>
                  <a:srgbClr val="172033"/>
                </a:solidFill>
                <a:latin typeface="Aptos"/>
              </a:rPr>
              <a:t>Project planning timeline</a:t>
            </a:r>
          </a:p>
          <a:p>
            <a:pPr>
              <a:buChar char="•"/>
            </a:pPr>
            <a:r>
              <a:rPr lang="en-US" sz="2200">
                <a:solidFill>
                  <a:srgbClr val="172033"/>
                </a:solidFill>
                <a:latin typeface="Aptos"/>
              </a:rPr>
              <a:t>Designing phase</a:t>
            </a:r>
          </a:p>
          <a:p>
            <a:pPr>
              <a:buChar char="•"/>
            </a:pPr>
            <a:r>
              <a:rPr lang="en-US" sz="2200">
                <a:solidFill>
                  <a:srgbClr val="172033"/>
                </a:solidFill>
                <a:latin typeface="Aptos"/>
              </a:rPr>
              <a:t>Development phase</a:t>
            </a:r>
          </a:p>
          <a:p>
            <a:pPr>
              <a:buChar char="•"/>
            </a:pPr>
            <a:r>
              <a:rPr lang="en-US" sz="2200">
                <a:solidFill>
                  <a:srgbClr val="172033"/>
                </a:solidFill>
                <a:latin typeface="Aptos"/>
              </a:rPr>
              <a:t>Testing phase</a:t>
            </a:r>
          </a:p>
          <a:p>
            <a:pPr>
              <a:buChar char="•"/>
            </a:pPr>
            <a:r>
              <a:rPr lang="en-US" sz="2200">
                <a:solidFill>
                  <a:srgbClr val="172033"/>
                </a:solidFill>
                <a:latin typeface="Aptos"/>
              </a:rPr>
              <a:t>Deployment phase</a:t>
            </a:r>
          </a:p>
          <a:p>
            <a:pPr>
              <a:buChar char="•"/>
            </a:pPr>
            <a:r>
              <a:rPr lang="en-US" sz="2200">
                <a:solidFill>
                  <a:srgbClr val="172033"/>
                </a:solidFill>
                <a:latin typeface="Aptos"/>
              </a:rPr>
              <a:t>Review and maintenance phase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2563EB"/>
                </a:solidFill>
                <a:latin typeface="Aptos"/>
              </a:rPr>
              <a:t>FIGURE 3.4: CLASS DIAGRAM OF PFM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Class Diagram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8732520" y="1417320"/>
            <a:ext cx="2331720" cy="32004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1400" b="1">
                <a:solidFill>
                  <a:srgbClr val="2563EB"/>
                </a:solidFill>
                <a:latin typeface="Aptos"/>
              </a:rPr>
              <a:t>Mention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732520" y="1828800"/>
            <a:ext cx="2560320" cy="38862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User class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Group class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Expense class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NLP Service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Expense Parser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RAG Service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Expense Analyzer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Relationships between system components</a:t>
            </a:r>
          </a:p>
        </p:txBody>
      </p:sp>
      <p:pic>
        <p:nvPicPr>
          <p:cNvPr id="7" name="2_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58" y="1261872"/>
            <a:ext cx="7338059" cy="489204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0F766E"/>
                </a:solidFill>
                <a:latin typeface="Aptos"/>
              </a:rPr>
              <a:t>FIGURE 3.5: OBJECT DIAGRAM OF PFM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Object Diagram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8732520" y="1417320"/>
            <a:ext cx="2331720" cy="32004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1400" b="1">
                <a:solidFill>
                  <a:srgbClr val="0F766E"/>
                </a:solidFill>
                <a:latin typeface="Aptos"/>
              </a:rPr>
              <a:t>Mention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732520" y="1828800"/>
            <a:ext cx="2560320" cy="38862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Runtime example of system objects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Current user object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Group object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Expense object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NLP service object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RAG engine object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Expense parser and analyzer objects</a:t>
            </a:r>
          </a:p>
        </p:txBody>
      </p:sp>
      <p:pic>
        <p:nvPicPr>
          <p:cNvPr id="7" name="3_Objec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58" y="1261872"/>
            <a:ext cx="7338059" cy="489204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16A34A"/>
                </a:solidFill>
                <a:latin typeface="Aptos"/>
              </a:rPr>
              <a:t>FIGURE 3.6: STATE DIAGRAM OF PFM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State Diagram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16A34A"/>
          </a:solidFill>
          <a:ln w="9525">
            <a:solidFill>
              <a:srgbClr val="16A34A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8732520" y="1417320"/>
            <a:ext cx="2331720" cy="32004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1400" b="1">
                <a:solidFill>
                  <a:srgbClr val="16A34A"/>
                </a:solidFill>
                <a:latin typeface="Aptos"/>
              </a:rPr>
              <a:t>Mention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732520" y="1828800"/>
            <a:ext cx="2560320" cy="38862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User authentication state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Dashboard state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Transaction input state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Parsing state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Confirmation state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Saving transaction state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Response and refresh state</a:t>
            </a:r>
          </a:p>
        </p:txBody>
      </p:sp>
      <p:pic>
        <p:nvPicPr>
          <p:cNvPr id="7" name="4_Stat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13049"/>
            <a:ext cx="7635240" cy="4189685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D97706"/>
                </a:solidFill>
                <a:latin typeface="Aptos"/>
              </a:rPr>
              <a:t>FIGURE 3.7: SEQUENCE DIAGRAM OF PFM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Sequence Diagram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8732520" y="1417320"/>
            <a:ext cx="2331720" cy="32004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1400" b="1">
                <a:solidFill>
                  <a:srgbClr val="D97706"/>
                </a:solidFill>
                <a:latin typeface="Aptos"/>
              </a:rPr>
              <a:t>Mention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732520" y="1828800"/>
            <a:ext cx="2560320" cy="38862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User enters transaction text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Chat.js sends request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App.js validates input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Expense API communicates with NLP Service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Expense Parser or NVIDIA NIM processes input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Supabase stores transaction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Response is shown to user</a:t>
            </a:r>
          </a:p>
        </p:txBody>
      </p:sp>
      <p:pic>
        <p:nvPicPr>
          <p:cNvPr id="7" name="5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58" y="1261872"/>
            <a:ext cx="7338059" cy="489204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0F766E"/>
                </a:solidFill>
                <a:latin typeface="Aptos"/>
              </a:rPr>
              <a:t>FIGURE 3.8: ACTIVITY DIAGRAM OF PFM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Activity Diagram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8732520" y="1417320"/>
            <a:ext cx="2331720" cy="32004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1400" b="1">
                <a:solidFill>
                  <a:srgbClr val="0F766E"/>
                </a:solidFill>
                <a:latin typeface="Aptos"/>
              </a:rPr>
              <a:t>Mention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732520" y="1828800"/>
            <a:ext cx="2560320" cy="38862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Application start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Authentication check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Dashboard display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Record transaction flow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Review/AI flow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Ask AI question flow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Save transaction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Logout</a:t>
            </a:r>
          </a:p>
        </p:txBody>
      </p:sp>
      <p:pic>
        <p:nvPicPr>
          <p:cNvPr id="7" name="6_Activit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307" y="1261872"/>
            <a:ext cx="3261360" cy="489204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2563EB"/>
                </a:solidFill>
                <a:latin typeface="Aptos"/>
              </a:rPr>
              <a:t>FIGURE 3.9: COMPONENT DIAGRAM OF PFM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Component Diagram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8732520" y="1417320"/>
            <a:ext cx="2331720" cy="32004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1400" b="1">
                <a:solidFill>
                  <a:srgbClr val="2563EB"/>
                </a:solidFill>
                <a:latin typeface="Aptos"/>
              </a:rPr>
              <a:t>Mention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732520" y="1828800"/>
            <a:ext cx="2560320" cy="38862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Client application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FastAPI backend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Supabase platform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PostgreSQL database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NVIDIA NIM API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NLP Service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RAG Service</a:t>
            </a:r>
          </a:p>
          <a:p>
            <a:pPr>
              <a:buChar char="•"/>
            </a:pPr>
            <a:r>
              <a:rPr lang="en-US" sz="1200">
                <a:solidFill>
                  <a:srgbClr val="172033"/>
                </a:solidFill>
                <a:latin typeface="Aptos"/>
              </a:rPr>
              <a:t>Expense Analyzer</a:t>
            </a:r>
          </a:p>
        </p:txBody>
      </p:sp>
      <p:pic>
        <p:nvPicPr>
          <p:cNvPr id="7" name="12_Compon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58" y="1261872"/>
            <a:ext cx="7338059" cy="489204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16A34A"/>
                </a:solidFill>
                <a:latin typeface="Aptos"/>
              </a:rPr>
              <a:t>NLP EXPENSE PARSING ALGORITHM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Algorithm Details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16A34A"/>
          </a:solidFill>
          <a:ln w="9525">
            <a:solidFill>
              <a:srgbClr val="16A34A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960120" y="1600200"/>
            <a:ext cx="10149840" cy="43891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300">
                <a:solidFill>
                  <a:srgbClr val="172033"/>
                </a:solidFill>
                <a:latin typeface="Aptos"/>
              </a:rPr>
              <a:t>Convert input text to lowercase</a:t>
            </a:r>
          </a:p>
          <a:p>
            <a:pPr>
              <a:buChar char="•"/>
            </a:pPr>
            <a:r>
              <a:rPr lang="en-US" sz="2300">
                <a:solidFill>
                  <a:srgbClr val="172033"/>
                </a:solidFill>
                <a:latin typeface="Aptos"/>
              </a:rPr>
              <a:t>Extract amount using regex</a:t>
            </a:r>
          </a:p>
          <a:p>
            <a:pPr>
              <a:buChar char="•"/>
            </a:pPr>
            <a:r>
              <a:rPr lang="en-US" sz="2300">
                <a:solidFill>
                  <a:srgbClr val="172033"/>
                </a:solidFill>
                <a:latin typeface="Aptos"/>
              </a:rPr>
              <a:t>Match keywords with expense categories</a:t>
            </a:r>
          </a:p>
          <a:p>
            <a:pPr>
              <a:buChar char="•"/>
            </a:pPr>
            <a:r>
              <a:rPr lang="en-US" sz="2300">
                <a:solidFill>
                  <a:srgbClr val="172033"/>
                </a:solidFill>
                <a:latin typeface="Aptos"/>
              </a:rPr>
              <a:t>Select category with highest score</a:t>
            </a:r>
          </a:p>
          <a:p>
            <a:pPr>
              <a:buChar char="•"/>
            </a:pPr>
            <a:r>
              <a:rPr lang="en-US" sz="2300">
                <a:solidFill>
                  <a:srgbClr val="172033"/>
                </a:solidFill>
                <a:latin typeface="Aptos"/>
              </a:rPr>
              <a:t>Return amount and category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0F766E"/>
                </a:solidFill>
                <a:latin typeface="Aptos"/>
              </a:rPr>
              <a:t>TOOLS AND TECHNOLOGIES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Implementation Tools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960120" y="1600200"/>
            <a:ext cx="10149840" cy="43891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Frontend: React.js, Tailwind CSS, Recharts</a:t>
            </a:r>
          </a:p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Backend: FastAPI</a:t>
            </a:r>
          </a:p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Database: Supabase PostgreSQL</a:t>
            </a:r>
          </a:p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AI/API: NIM API</a:t>
            </a:r>
          </a:p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CASE Tools: VS Code, Draw.io, Lucidchart, Figma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2563EB"/>
                </a:solidFill>
                <a:latin typeface="Aptos"/>
              </a:rPr>
              <a:t>MAIN MODULES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Implementation Details of Modules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960120" y="1600200"/>
            <a:ext cx="10149840" cy="43891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Registration Module</a:t>
            </a:r>
          </a:p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Login Module</a:t>
            </a:r>
          </a:p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Expense Management Module</a:t>
            </a:r>
          </a:p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NLP Expense Parsing Module</a:t>
            </a:r>
          </a:p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Budget Optimization Module</a:t>
            </a:r>
          </a:p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Dashboard and Analytics Module</a:t>
            </a:r>
          </a:p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Conversational Financial Assistant Module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16A34A"/>
                </a:solidFill>
                <a:latin typeface="Aptos"/>
              </a:rPr>
              <a:t>UNIT TEST CASES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Testing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16A34A"/>
          </a:solidFill>
          <a:ln w="9525">
            <a:solidFill>
              <a:srgbClr val="16A34A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960120" y="1600200"/>
            <a:ext cx="10149840" cy="43891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User registration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User login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Add expense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NLP expense parsing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Budget optimization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Dashboard analytics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Conversational query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Delete expense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Logout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0F766E"/>
                </a:solidFill>
                <a:latin typeface="Aptos"/>
              </a:rPr>
              <a:t>COMPLETED WORK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Modules Completed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960120" y="1600200"/>
            <a:ext cx="10149840" cy="43891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User Authentication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Expense Management Module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NLP Expense Parsing Module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Dashboard and Analytics Module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Budget Optimization Module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Frontend Development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Backend API Development</a:t>
            </a:r>
          </a:p>
          <a:p>
            <a:pPr>
              <a:buChar char="•"/>
            </a:pPr>
            <a:r>
              <a:rPr lang="en-US" sz="2000">
                <a:solidFill>
                  <a:srgbClr val="172033"/>
                </a:solidFill>
                <a:latin typeface="Aptos"/>
              </a:rPr>
              <a:t>Database Integration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D97706"/>
                </a:solidFill>
                <a:latin typeface="Aptos"/>
              </a:rPr>
              <a:t>REMAINING WORK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Modules Remaining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D97706"/>
          </a:solidFill>
          <a:ln w="9525">
            <a:solidFill>
              <a:srgbClr val="D97706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960120" y="1600200"/>
            <a:ext cx="10149840" cy="43891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200">
                <a:solidFill>
                  <a:srgbClr val="172033"/>
                </a:solidFill>
                <a:latin typeface="Aptos"/>
              </a:rPr>
              <a:t>Conversational Financial Assistant / RAG</a:t>
            </a:r>
          </a:p>
          <a:p>
            <a:pPr>
              <a:buChar char="•"/>
            </a:pPr>
            <a:r>
              <a:rPr lang="en-US" sz="2200">
                <a:solidFill>
                  <a:srgbClr val="172033"/>
                </a:solidFill>
                <a:latin typeface="Aptos"/>
              </a:rPr>
              <a:t>Gemini API Optimization</a:t>
            </a:r>
          </a:p>
          <a:p>
            <a:pPr>
              <a:buChar char="•"/>
            </a:pPr>
            <a:r>
              <a:rPr lang="en-US" sz="2200">
                <a:solidFill>
                  <a:srgbClr val="172033"/>
                </a:solidFill>
                <a:latin typeface="Aptos"/>
              </a:rPr>
              <a:t>System Testing and Debugging</a:t>
            </a:r>
          </a:p>
          <a:p>
            <a:pPr>
              <a:buChar char="•"/>
            </a:pPr>
            <a:r>
              <a:rPr lang="en-US" sz="2200">
                <a:solidFill>
                  <a:srgbClr val="172033"/>
                </a:solidFill>
                <a:latin typeface="Aptos"/>
              </a:rPr>
              <a:t>Deployment and Performance Optimization</a:t>
            </a:r>
          </a:p>
          <a:p>
            <a:pPr>
              <a:buChar char="•"/>
            </a:pPr>
            <a:r>
              <a:rPr lang="en-US" sz="2200">
                <a:solidFill>
                  <a:srgbClr val="172033"/>
                </a:solidFill>
                <a:latin typeface="Aptos"/>
              </a:rPr>
              <a:t>Report Documentation and Final Presentation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0F766E"/>
                </a:solidFill>
                <a:latin typeface="Aptos"/>
              </a:rPr>
              <a:t>PROJECT CONCLUSION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Conclusion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0F766E"/>
          </a:solidFill>
          <a:ln w="9525">
            <a:solidFill>
              <a:srgbClr val="0F766E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960120" y="1600200"/>
            <a:ext cx="10149840" cy="43891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PFM reduces manual expense entry</a:t>
            </a:r>
          </a:p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NLP makes tracking faster and easier</a:t>
            </a:r>
          </a:p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Dashboard helps users understand spending</a:t>
            </a:r>
          </a:p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Budget optimization supports better saving decisions</a:t>
            </a:r>
          </a:p>
          <a:p>
            <a:pPr>
              <a:buChar char="•"/>
            </a:pPr>
            <a:r>
              <a:rPr lang="en-US" sz="2100">
                <a:solidFill>
                  <a:srgbClr val="172033"/>
                </a:solidFill>
                <a:latin typeface="Aptos"/>
              </a:rPr>
              <a:t>Remaining work focuses on RAG, testing, deployment, and final documentation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"/>
            <a:ext cx="4572000" cy="292608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900" b="1">
                <a:solidFill>
                  <a:srgbClr val="2563EB"/>
                </a:solidFill>
                <a:latin typeface="Aptos"/>
              </a:rPr>
              <a:t>REPORT REFERENCES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2920" y="502920"/>
            <a:ext cx="7955279" cy="5029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/>
            <a:r>
              <a:rPr lang="en-US" sz="2400" b="1">
                <a:solidFill>
                  <a:srgbClr val="172033"/>
                </a:solidFill>
                <a:latin typeface="Aptos"/>
              </a:rPr>
              <a:t>References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02920" y="1069848"/>
            <a:ext cx="11155680" cy="18288"/>
          </a:xfrm>
          <a:solidFill>
            <a:srgbClr val="2563EB"/>
          </a:solidFill>
          <a:ln w="9525">
            <a:solidFill>
              <a:srgbClr val="2563EB"/>
            </a:solidFill>
          </a:ln>
        </p:spPr>
        <p:txBody>
          <a:bodyPr wrap="square" lIns="109728" tIns="73152" rIns="109728" bIns="73152"/>
          <a:lstStyle/>
          <a:p>
            <a:pPr/>
            <a:r>
              <a:rPr lang="en-US" sz="220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960120" y="1600200"/>
            <a:ext cx="10149840" cy="438912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Splitwise</a:t>
            </a:r>
          </a:p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YNAB</a:t>
            </a:r>
          </a:p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Wallet by BudgetBakers</a:t>
            </a:r>
          </a:p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Automated Text Categorization</a:t>
            </a:r>
          </a:p>
          <a:p>
            <a:pPr>
              <a:buChar char="•"/>
            </a:pPr>
            <a:r>
              <a:rPr lang="en-US" sz="2400">
                <a:solidFill>
                  <a:srgbClr val="172033"/>
                </a:solidFill>
                <a:latin typeface="Aptos"/>
              </a:rPr>
              <a:t>Retrieval-Augmented Generation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561320" y="6419088"/>
            <a:ext cx="1051560" cy="228600"/>
          </a:xfrm>
          <a:noFill/>
          <a:ln>
            <a:noFill/>
          </a:ln>
        </p:spPr>
        <p:txBody>
          <a:bodyPr wrap="square" lIns="109728" tIns="73152" rIns="109728" bIns="73152"/>
          <a:lstStyle/>
          <a:p>
            <a:pPr algn="r"/>
            <a:r>
              <a:rPr lang="en-US" sz="900">
                <a:solidFill>
                  <a:srgbClr val="5A657A"/>
                </a:solidFill>
                <a:latin typeface="Aptos"/>
              </a:rPr>
              <a:t>25 / 25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 Python OOXML Builder</Application>
  <Slides>25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PFM Mid/Final Defense Presentation</dc:title>
  <dc:creator>Codex</dc:creator>
  <cp:lastModifiedBy>Codex</cp:lastModifiedBy>
</cp:coreProperties>
</file>